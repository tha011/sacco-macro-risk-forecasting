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Arial"/>
              </a:rPr>
              <a:t>ROC-AUC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3D5A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7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8E4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XGBoost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</c:v>
                </c:pt>
                <c:pt idx="1">
                  <c:v>0.834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2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08E4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shock_period</c:v>
                  </c:pt>
                  <c:pt idx="1">
                    <c:v>fuel_price_kes_per_litre</c:v>
                  </c:pt>
                  <c:pt idx="2">
                    <c:v>inflation_lag3</c:v>
                  </c:pt>
                  <c:pt idx="3">
                    <c:v>days_in_arrears</c:v>
                  </c:pt>
                  <c:pt idx="4">
                    <c:v>sector_salaried_formal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0.2385</c:v>
                </c:pt>
                <c:pt idx="1">
                  <c:v>0.1128</c:v>
                </c:pt>
                <c:pt idx="2">
                  <c:v>0.1077</c:v>
                </c:pt>
                <c:pt idx="3">
                  <c:v>0.0961</c:v>
                </c:pt>
                <c:pt idx="4">
                  <c:v>0.0673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5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3D5A7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E08E45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DATA SCIENCE PORTFOLIO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Macro-Energy Portfolio Risk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Arrears Forecasting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early-warning classifier that flags which SACCO loan accounts are likely to migrate to a worse SASRA risk bucket when fuel-price shocks compress borrower income.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 (Mwatha Maina)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Officer/Intern, RUPSA Regulated NWDT Sacco Ltd  ·  github.com/THA011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This, Why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credit appraisal scores a borrower once, at disbursement. It has no mechanism to revisit that score as macro conditions change — and fuel-price shocks move faster than any annual review cycle.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DF1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price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23160" y="3291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79192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DF1F4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cost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transport / agri rises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45152" y="3291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01184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DF1F4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Disposable income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7144" y="3291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123176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D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7232904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servicing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32904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 down the priority list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89136" y="32918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345168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E08E45"/>
          </a:solidFill>
          <a:ln/>
        </p:spPr>
      </p:sp>
      <p:sp>
        <p:nvSpPr>
          <p:cNvPr id="21" name="Text 19"/>
          <p:cNvSpPr/>
          <p:nvPr/>
        </p:nvSpPr>
        <p:spPr>
          <a:xfrm>
            <a:off x="9454896" y="304495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54896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climbs — after the fact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exists to catch step 4 while there is still time to restructure — not to explain step 5 after the committee meeting.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Portfolio Directions Considered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B24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Macro-Energy Portfolio Risk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Arrears Forecasting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331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2588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12344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DF1F4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417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SARIMAX Modeling for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EPRA Prices &amp; Inflation Elasticity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0" y="2331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Tidyverse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DF1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611880"/>
            <a:ext cx="502920" cy="502920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5661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Risk-Based Credit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Appraisal Engine + Macro Stress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4805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MySQL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3832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EDF1F4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611880"/>
            <a:ext cx="502920" cy="502920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5661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SACCO Credit Risk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Macro Stability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44805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SQL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One, Specifically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216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fit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5453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directly on PAR and loan-classification work already handled at RUPSA — the target variable is real and auditable, not invented.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fit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4780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SQL first stack — the strongest tools already in active use, not a stretch into an unfamiliar toolchain.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384048" cy="384048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081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gap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4107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appraisal engine (#3) and dashboard (#4) already exist in this portfolio. This is the only genuine forecasting/classification piece.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78224"/>
            <a:ext cx="384048" cy="384048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0142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fit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straight at credit-risk data science and risk-analytics leadership in African fintech — the stated trajectory, not a detour.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010912"/>
            <a:ext cx="384048" cy="384048"/>
          </a:xfrm>
          <a:prstGeom prst="ellipse">
            <a:avLst/>
          </a:prstGeom>
          <a:solidFill>
            <a:srgbClr val="3D5A7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010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946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defensibility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52760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validation and class-imbalance handling are exactly what a credit-risk-data-science screen probes for.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1B243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EPRA · KNBS · CBK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synthetic ledger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70048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3D5A73"/>
          </a:solidFill>
          <a:ln/>
        </p:spPr>
      </p:sp>
      <p:sp>
        <p:nvSpPr>
          <p:cNvPr id="8" name="Text 6"/>
          <p:cNvSpPr/>
          <p:nvPr/>
        </p:nvSpPr>
        <p:spPr>
          <a:xfrm>
            <a:off x="2807208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Merge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07208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macro panel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account-month ledger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81728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82896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1B243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0056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0056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sensitivity,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macro, PAR flags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94576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095744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3D5A73"/>
          </a:solidFill>
          <a:ln/>
        </p:spPr>
      </p:sp>
      <p:sp>
        <p:nvSpPr>
          <p:cNvPr id="16" name="Text 14"/>
          <p:cNvSpPr/>
          <p:nvPr/>
        </p:nvSpPr>
        <p:spPr>
          <a:xfrm>
            <a:off x="7232904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Split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Models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32904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XGBoost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07424" y="297180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308592" y="2103120"/>
            <a:ext cx="2011680" cy="2286000"/>
          </a:xfrm>
          <a:prstGeom prst="roundRect">
            <a:avLst>
              <a:gd name="adj" fmla="val 4091"/>
            </a:avLst>
          </a:prstGeom>
          <a:solidFill>
            <a:srgbClr val="E08E45"/>
          </a:solidFill>
          <a:ln/>
        </p:spPr>
      </p:sp>
      <p:sp>
        <p:nvSpPr>
          <p:cNvPr id="20" name="Text 18"/>
          <p:cNvSpPr/>
          <p:nvPr/>
        </p:nvSpPr>
        <p:spPr>
          <a:xfrm>
            <a:off x="9445752" y="2331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45752" y="31546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Capital-at-risk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is a module in src/ — the diagram is the repo, not a simplification of it (see Slide 11).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— and the Rule That Doesn't Bend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DF1F4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435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EPRA Monthly Pricing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20440" y="1243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prices (petrol, diesel, kerosene) by month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58200" y="1243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source, fetch stub provided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DF1F4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KNBS CPI Releases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204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inflation / cost-of-living indices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5820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source, fetch stub provided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DF1F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968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CBK Exchange Rates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0440" y="2596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USD/KES indicative monthly average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8200" y="25968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source, fetch stub provided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10789920" cy="566928"/>
          </a:xfrm>
          <a:prstGeom prst="roundRect">
            <a:avLst>
              <a:gd name="adj" fmla="val 8065"/>
            </a:avLst>
          </a:prstGeom>
          <a:solidFill>
            <a:srgbClr val="ED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73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SACCO Loan Ledger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20440" y="3273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Member-level loan, sector, arrears, classification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32735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only — generated, not sourced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1B243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513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SACCO member data — not raw, not aggregated, not “anonymized.”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517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+ loan size + tenure + rough geography is often enough to re-identify someone even after names are stripped. The synthetic generator sidesteps that question entirely — no real record is ever touched.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Panel to Model-Ready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DF1F4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490472"/>
            <a:ext cx="457200" cy="7315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fuel-sensitivity weighting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boda boda exposure weighted highest; salaried/formal lowest — reflects who actually feels a pump-price spike first.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2344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DF1F4"/>
          </a:solidFill>
          <a:ln/>
        </p:spPr>
      </p:sp>
      <p:sp>
        <p:nvSpPr>
          <p:cNvPr id="8" name="Shape 6"/>
          <p:cNvSpPr/>
          <p:nvPr/>
        </p:nvSpPr>
        <p:spPr>
          <a:xfrm>
            <a:off x="6336792" y="1490472"/>
            <a:ext cx="457200" cy="7315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9" name="Text 7"/>
          <p:cNvSpPr/>
          <p:nvPr/>
        </p:nvSpPr>
        <p:spPr>
          <a:xfrm>
            <a:off x="6336792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Lagged macro features (t-1, t-2, t-3)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6792" y="21945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Fuel-price change and inflation don't hit repayment behavior instantly — lags let the model learn the delay.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DF1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822192"/>
            <a:ext cx="457200" cy="7315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PAR30 / PAR90 flags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" y="45262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3-month rolling arrears trend, alongside the point-in-time days-past-due figure.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35661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DF1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6792" y="3822192"/>
            <a:ext cx="457200" cy="73152"/>
          </a:xfrm>
          <a:prstGeom prst="rect">
            <a:avLst/>
          </a:prstGeom>
          <a:solidFill>
            <a:srgbClr val="E08E45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Forward-looking migration label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36792" y="45262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migrates_worse = 1 if next month's SASRA bucket rank is worse than this month's — built from src/config's single threshold table, not re-derived per script.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257800" cy="4617720"/>
          </a:xfrm>
          <a:prstGeom prst="roundRect">
            <a:avLst>
              <a:gd name="adj" fmla="val 1584"/>
            </a:avLst>
          </a:prstGeom>
          <a:solidFill>
            <a:srgbClr val="1B24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split, never random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earlier months, test on later ones. A random split lets the model see the same shock period in both train and test — the metrics look better and mean nothing, because the entire point is forecasting a shock the model hasn't experienced yet.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repo's split: train through 2024-08, test from 2024-09 onward (16,840 / 5,832 account-months).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imbalance, handled twice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class_weight="balanced". XGBoost: scale_pos_weight computed from the training split's own ratio — never the full dataset's, which would leak how bad the shock turned out to be.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5303520" cy="4617720"/>
          </a:xfrm>
          <a:prstGeom prst="roundRect">
            <a:avLst>
              <a:gd name="adj" fmla="val 1584"/>
            </a:avLst>
          </a:prstGeom>
          <a:solidFill>
            <a:srgbClr val="EDF1F4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two jobs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17920" y="19659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interpretable baseline. Coefficients are explainable to a credit committee in one sentence; it sets the floor XGBoost has to beat.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3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primary model. Captures the non-linear interaction between sector exposure and the size of a fuel-price shock that a linear model structurally cannot.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4526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trained inside the same script, on the same split, so their AUCs are directly comparable — see Slide 9.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First-Pass Results — Synthetic Demo Run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period: Sep 2024 onward · 5,832 account-months · positive (migrates-worse) rate 3.5%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0" y="118872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DF1F4"/>
          </a:solidFill>
          <a:ln/>
        </p:spPr>
      </p:sp>
      <p:sp>
        <p:nvSpPr>
          <p:cNvPr id="6" name="Text 3"/>
          <p:cNvSpPr/>
          <p:nvPr/>
        </p:nvSpPr>
        <p:spPr>
          <a:xfrm>
            <a:off x="6629400" y="12984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51.5M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flagged by the model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260604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DF1F4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27157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72.5M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629400" y="3429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that actually migrated worse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402336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DF1F4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41330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62940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at-risk capital caught before it migrated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263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describe an 800-account synthetic portfolio built for this repo — not a RUPSA figure. Re-running against real, properly governed data is Roadmap v0.3 (Slide 12).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Driving the Signal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23444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1B2430"/>
          </a:solidFill>
          <a:ln/>
        </p:spPr>
      </p:sp>
      <p:sp>
        <p:nvSpPr>
          <p:cNvPr id="5" name="Text 2"/>
          <p:cNvSpPr/>
          <p:nvPr/>
        </p:nvSpPr>
        <p:spPr>
          <a:xfrm>
            <a:off x="854964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8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honestly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549640" y="1920240"/>
            <a:ext cx="2468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shock_period dominating is expected — it's a stylized step-change I built into the simulator, not a discovered pattern. The feature that matters for a real deployment is fuel_price and its lags standing on their own, without needing the shock flag as a crutch.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789920" cy="5029200"/>
          </a:xfrm>
          <a:prstGeom prst="roundRect">
            <a:avLst>
              <a:gd name="adj" fmla="val 1091"/>
            </a:avLst>
          </a:prstGeom>
          <a:solidFill>
            <a:srgbClr val="1B243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2412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sacco-macro-risk-forecasting/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· LICENSE · requirements.txt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     raw · external · interim · processed  (gitignored)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01_exploratory_analysis.ipynb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02_modeling_and_evaluation.ipynb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config.py            SASRA thresholds, paths, seed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data/                simulate_ledger · simulate_macro · fetch_external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features/             build_features.py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               train_model.py · evaluate.py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visualization/        visualize.py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                   test_simulate_ledger · test_build_features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docs/methodology.md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.github/workflows/ci.yml   pytest on every push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reports/figures/            roc_curve.png · calibration_curve.png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1417320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FBEBDA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417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pipeline + baseline Logistic 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640080" cy="640080"/>
          </a:xfrm>
          <a:prstGeom prst="ellipse">
            <a:avLst/>
          </a:prstGeom>
          <a:solidFill>
            <a:srgbClr val="EDF1F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2258568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EDF1F4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2585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PyCaret model comparison, SHAP attribution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640080" cy="640080"/>
          </a:xfrm>
          <a:prstGeom prst="ellipse">
            <a:avLst/>
          </a:prstGeom>
          <a:solidFill>
            <a:srgbClr val="EDF1F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540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17320" y="3099816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EDF1F4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099816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real EPRA / KNBS / CBK series via fetch_external.py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640080" cy="640080"/>
          </a:xfrm>
          <a:prstGeom prst="ellipse">
            <a:avLst/>
          </a:prstGeom>
          <a:solidFill>
            <a:srgbClr val="ED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953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17320" y="3941064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EDF1F4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394106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/predict endpoint for a ranked watchlist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36592"/>
            <a:ext cx="640080" cy="640080"/>
          </a:xfrm>
          <a:prstGeom prst="ellipse">
            <a:avLst/>
          </a:prstGeom>
          <a:solidFill>
            <a:srgbClr val="EDF1F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36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17320" y="4782312"/>
            <a:ext cx="9829800" cy="548640"/>
          </a:xfrm>
          <a:prstGeom prst="roundRect">
            <a:avLst>
              <a:gd name="adj" fmla="val 8333"/>
            </a:avLst>
          </a:prstGeom>
          <a:solidFill>
            <a:srgbClr val="EDF1F4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478231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/ hazard framing — time-to-default (stretch)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 ships v0.1, fully tested and run end-to-end.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Risk Data Science Portfolio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3D5A7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 credit risk data science.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repository, tested end-to-end — README, methodology, CI.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github.com/THA011/sacco-macro-risk-forecasting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(Mwatha Maina)  ·  Credit Officer/Intern, RUPSA Regulated NWDT Sacco Ltd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2026-07-19T02:56:00Z</dcterms:created>
  <dcterms:modified xsi:type="dcterms:W3CDTF">2026-07-19T02:56:00Z</dcterms:modified>
</cp:coreProperties>
</file>