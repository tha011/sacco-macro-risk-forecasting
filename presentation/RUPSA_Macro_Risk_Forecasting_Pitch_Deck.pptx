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430"/>
                </a:solidFill>
                <a:latin typeface="Arial"/>
              </a:rPr>
              <a:t>ROC-AUC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3D5A7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33-4C9D-85FB-F79AE0A26FFA}"/>
              </c:ext>
            </c:extLst>
          </c:dPt>
          <c:dPt>
            <c:idx val="1"/>
            <c:invertIfNegative val="0"/>
            <c:bubble3D val="0"/>
            <c:spPr>
              <a:solidFill>
                <a:srgbClr val="E08E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33-4C9D-85FB-F79AE0A26FFA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XGBoost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</c:v>
                </c:pt>
                <c:pt idx="1">
                  <c:v>0.83399999999999996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33-4C9D-85FB-F79AE0A26F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2E6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shock_period</c:v>
                </c:pt>
                <c:pt idx="1">
                  <c:v>fuel_price_kes_per_litre</c:v>
                </c:pt>
                <c:pt idx="2">
                  <c:v>inflation_lag3</c:v>
                </c:pt>
                <c:pt idx="3">
                  <c:v>days_in_arrears</c:v>
                </c:pt>
                <c:pt idx="4">
                  <c:v>sector_salaried_formal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0.23849999999999999</c:v>
                </c:pt>
                <c:pt idx="1">
                  <c:v>0.1128</c:v>
                </c:pt>
                <c:pt idx="2">
                  <c:v>0.1077</c:v>
                </c:pt>
                <c:pt idx="3">
                  <c:v>9.6100000000000005E-2</c:v>
                </c:pt>
                <c:pt idx="4">
                  <c:v>6.7299999999999999E-2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CE-4ED9-BF80-150DEBE755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6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138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chemeClr val="accent6">
              <a:lumMod val="50000"/>
              <a:alpha val="4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chemeClr val="accent6">
              <a:lumMod val="60000"/>
              <a:lumOff val="40000"/>
              <a:alpha val="3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DATA SCIENCE PORTFOLIO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Macro-Energy Portfolio Risk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Arrears Forecasting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early-warning classifier that flags which SACCO loan accounts are likely to migrate to a worse SASRA risk bucket when fuel-price shocks compress borrower income.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 (Mwatha Maina)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Officer/Intern, RUPSA Regulated NWDT Sacco Ltd  ·  github.com/THA011  ·  July 2026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BDB0A4-3210-37CF-91D2-86A22376D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2730" y="4451004"/>
            <a:ext cx="2926334" cy="29263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This, Why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credit appraisal scores a borrower once, at disbursement. It has no mechanism to revisit that score as macro conditions change — and fuel-price shocks move faster than any annual review cycle.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DF1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04495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price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23160" y="32918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79192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DF1F4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304495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cost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88920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transport / agri rises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45152" y="32918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901184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DF1F4"/>
          </a:solidFill>
          <a:ln/>
        </p:spPr>
      </p:sp>
      <p:sp>
        <p:nvSpPr>
          <p:cNvPr id="13" name="Text 11"/>
          <p:cNvSpPr/>
          <p:nvPr/>
        </p:nvSpPr>
        <p:spPr>
          <a:xfrm>
            <a:off x="5010912" y="304495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Disposable income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10912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7144" y="32918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123176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D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7232904" y="304495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servicing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32904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slips down the priority list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89136" y="32918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345168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08E45"/>
          </a:solidFill>
          <a:ln/>
        </p:spPr>
      </p:sp>
      <p:sp>
        <p:nvSpPr>
          <p:cNvPr id="21" name="Text 19"/>
          <p:cNvSpPr/>
          <p:nvPr/>
        </p:nvSpPr>
        <p:spPr>
          <a:xfrm>
            <a:off x="9454896" y="304495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54896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climbs — after the fact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exists to catch step 4 while there is still time to restructure — not to explain step 5 after the committee meeting.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Portfolio Directions Considered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349240" cy="1874520"/>
          </a:xfrm>
          <a:prstGeom prst="roundRect">
            <a:avLst>
              <a:gd name="adj" fmla="val 3902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Macro-Energy Portfolio Risk</a:t>
            </a:r>
            <a:endParaRPr lang="en-US" sz="15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Arrears Forecasting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3317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2588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234440"/>
            <a:ext cx="5349240" cy="1874520"/>
          </a:xfrm>
          <a:prstGeom prst="roundRect">
            <a:avLst>
              <a:gd name="adj" fmla="val 3902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4173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SARIMAX Modeling for</a:t>
            </a:r>
            <a:endParaRPr lang="en-US" sz="15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EPRA Prices &amp; Inflation Elasticity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0" y="23317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Tidyverse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5349240" cy="1874520"/>
          </a:xfrm>
          <a:prstGeom prst="roundRect">
            <a:avLst>
              <a:gd name="adj" fmla="val 3902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5661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Risk-Based Credit</a:t>
            </a:r>
            <a:endParaRPr lang="en-US" sz="15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Appraisal Engine + Macro Stress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4805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MySQL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383280"/>
            <a:ext cx="5349240" cy="1874520"/>
          </a:xfrm>
          <a:prstGeom prst="roundRect">
            <a:avLst>
              <a:gd name="adj" fmla="val 3902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611880"/>
            <a:ext cx="502920" cy="502920"/>
          </a:xfrm>
          <a:prstGeom prst="ellipse">
            <a:avLst/>
          </a:prstGeom>
          <a:solidFill>
            <a:srgbClr val="3D5A73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611880"/>
            <a:ext cx="502920" cy="502920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35661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SACCO Credit Risk</a:t>
            </a:r>
            <a:endParaRPr lang="en-US" sz="15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Macro Stability Dashboard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44805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SQL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One, Specifically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216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fit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54533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directly on PAR and loan-classification work already handled at RUPSA — the target variable is real and auditable, not invented.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384048" cy="384048"/>
          </a:xfrm>
          <a:prstGeom prst="ellipse">
            <a:avLst/>
          </a:prstGeom>
          <a:solidFill>
            <a:srgbClr val="3D5A7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12848"/>
            <a:ext cx="384048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fit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47802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SQL first stack — the strongest tools already in active use, not a stretch into an unfamiliar toolchain.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45536"/>
            <a:ext cx="384048" cy="38404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081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gap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4107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appraisal engine (#3) and dashboard (#4) already exist in this portfolio. This is the only genuine forecasting/classification piece.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78224"/>
            <a:ext cx="384048" cy="38404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fit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straight at credit-risk data science and risk-analytics leadership in African fintech — the stated trajectory, not a detour.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010912"/>
            <a:ext cx="384048" cy="38404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946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defensibility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52760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validation and class-imbalance handling are exactly what a credit-risk-data-science screen probes for.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103120"/>
            <a:ext cx="2011680" cy="2286000"/>
          </a:xfrm>
          <a:prstGeom prst="roundRect">
            <a:avLst>
              <a:gd name="adj" fmla="val 4091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31546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EPRA · KNBS · CBK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synthetic ledger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70048" y="2103120"/>
            <a:ext cx="2011680" cy="2286000"/>
          </a:xfrm>
          <a:prstGeom prst="roundRect">
            <a:avLst>
              <a:gd name="adj" fmla="val 4091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2807208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</a:t>
            </a:r>
            <a:endParaRPr lang="en-US" sz="15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Merge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07208" y="31546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macro panel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account-month ledger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81728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82896" y="2103120"/>
            <a:ext cx="2011680" cy="2286000"/>
          </a:xfrm>
          <a:prstGeom prst="roundRect">
            <a:avLst>
              <a:gd name="adj" fmla="val 4091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0056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5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0056" y="31546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sensitivity,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macro, PAR flags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94576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095744" y="2103120"/>
            <a:ext cx="2011680" cy="2286000"/>
          </a:xfrm>
          <a:prstGeom prst="roundRect">
            <a:avLst>
              <a:gd name="adj" fmla="val 4091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7232904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Split</a:t>
            </a:r>
            <a:endParaRPr lang="en-US" sz="15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Models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32904" y="31546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XGBoost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07424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308592" y="210312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E08E45"/>
          </a:solidFill>
          <a:ln/>
        </p:spPr>
      </p:sp>
      <p:sp>
        <p:nvSpPr>
          <p:cNvPr id="20" name="Text 18"/>
          <p:cNvSpPr/>
          <p:nvPr/>
        </p:nvSpPr>
        <p:spPr>
          <a:xfrm>
            <a:off x="9445752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</a:t>
            </a:r>
            <a:endParaRPr lang="en-US" sz="15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Watchlist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45752" y="31546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Capital-at-risk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 module in src/ — the diagram is the repo, not a simplification of it (see Slide 11).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— and the Rule That Doesn't Bend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EDF1F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435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EPRA Monthly Pricing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520440" y="1243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prices (petrol, diesel, kerosene) by month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58200" y="12435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source, fetch stub provided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EDF1F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KNBS CPI Releases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2044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inflation / cost-of-living indices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5820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source, fetch stub provided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EDF1F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968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CBK Exchange Rates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0440" y="2596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USD/KES indicative monthly average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58200" y="25968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source, fetch stub provided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EDF1F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73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SACCO Loan Ledger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20440" y="3273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Member-level loan, sector, arrears, classification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58200" y="32735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only — generated, not sourced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05072"/>
            <a:ext cx="10789920" cy="1051560"/>
          </a:xfrm>
          <a:prstGeom prst="roundRect">
            <a:avLst>
              <a:gd name="adj" fmla="val 6957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5137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SACCO member data — not raw, not aggregated, not “anonymized.”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4517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+ loan size + tenure + rough geography is often enough to re-identify someone even after names are stripped. The synthetic generator sidesteps that question entirely — no real record is ever touched.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Panel to Model-Ready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DF1F4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490472"/>
            <a:ext cx="457200" cy="73152"/>
          </a:xfrm>
          <a:prstGeom prst="rect">
            <a:avLst/>
          </a:prstGeom>
          <a:solidFill>
            <a:srgbClr val="E08E45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ea typeface="Cambria" pitchFamily="34" charset="-122"/>
                <a:cs typeface="Cambria" pitchFamily="34" charset="-120"/>
              </a:rPr>
              <a:t>Sector fuel-sensitivity weighting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13232" y="2194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and boda boda exposure weighted highest; salaried/formal lowest; reflects who actually feels a pump-price spike first.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2344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DF1F4"/>
          </a:solidFill>
          <a:ln/>
        </p:spPr>
      </p:sp>
      <p:sp>
        <p:nvSpPr>
          <p:cNvPr id="8" name="Shape 6"/>
          <p:cNvSpPr/>
          <p:nvPr/>
        </p:nvSpPr>
        <p:spPr>
          <a:xfrm>
            <a:off x="6336792" y="1490472"/>
            <a:ext cx="457200" cy="73152"/>
          </a:xfrm>
          <a:prstGeom prst="rect">
            <a:avLst/>
          </a:prstGeom>
          <a:solidFill>
            <a:srgbClr val="E08E45"/>
          </a:solidFill>
          <a:ln/>
        </p:spPr>
      </p:sp>
      <p:sp>
        <p:nvSpPr>
          <p:cNvPr id="9" name="Text 7"/>
          <p:cNvSpPr/>
          <p:nvPr/>
        </p:nvSpPr>
        <p:spPr>
          <a:xfrm>
            <a:off x="6336792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ea typeface="Cambria" pitchFamily="34" charset="-122"/>
                <a:cs typeface="Cambria" pitchFamily="34" charset="-120"/>
              </a:rPr>
              <a:t>Lagged macro features (t-1, t-2, t-3)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336792" y="2194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Fuel-price change and inflation don't hit repayment behavior instantly; lags let the model learn the delay.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DF1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3822192"/>
            <a:ext cx="457200" cy="73152"/>
          </a:xfrm>
          <a:prstGeom prst="rect">
            <a:avLst/>
          </a:prstGeom>
          <a:solidFill>
            <a:srgbClr val="E08E45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ea typeface="Cambria" pitchFamily="34" charset="-122"/>
                <a:cs typeface="Cambria" pitchFamily="34" charset="-120"/>
              </a:rPr>
              <a:t>Rolling PAR30 / PAR90 flags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3232" y="45262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3-month rolling arrears trend, alongside the point-in-time days-past-due figure.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35661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DF1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336792" y="3822192"/>
            <a:ext cx="457200" cy="73152"/>
          </a:xfrm>
          <a:prstGeom prst="rect">
            <a:avLst/>
          </a:prstGeom>
          <a:solidFill>
            <a:srgbClr val="E08E45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ea typeface="Cambria" pitchFamily="34" charset="-122"/>
                <a:cs typeface="Cambria" pitchFamily="34" charset="-120"/>
              </a:rPr>
              <a:t>Forward-looking migration label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36792" y="45262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migrates_worse = 1 if next month's SASRA bucket rank is worse than this month’s; built from src/config's single threshold table, not re-derived per script.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257800" cy="4617720"/>
          </a:xfrm>
          <a:prstGeom prst="roundRect">
            <a:avLst>
              <a:gd name="adj" fmla="val 1584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8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split, never random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earlier months, test on later ones. A random split lets the model see the same shock period in both train and test — the metrics look better and mean nothing, because the entire point is forecasting a shock the model hasn't experienced yet.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repo's split: train through 2024-08, test from 2024-09 onward (16,840 / 5,832 account-months).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8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imbalance, handled twice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class_weight="balanced". XGBoost: scale_pos_weight computed from the training split's own ratio — never the full dataset's, which would leak how bad the shock turned out to be.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5303520" cy="4617720"/>
          </a:xfrm>
          <a:prstGeom prst="roundRect">
            <a:avLst>
              <a:gd name="adj" fmla="val 1584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two jobs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17920" y="196596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interpretable baseline. Coefficients are explainable to a credit committee in one sentence; it sets the floor XGBoost has to beat.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2004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primary model. Captures the non-linear interaction between sector exposure and the size of a fuel-price shock that a linear model structurally cannot.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526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trained inside the same script, on the same split, so their AUCs are directly comparable — see Slide 9.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First-Pass Results — Synthetic Demo Run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893370445"/>
              </p:ext>
            </p:extLst>
          </p:nvPr>
        </p:nvGraphicFramePr>
        <p:xfrm>
          <a:off x="457200" y="1188720"/>
          <a:ext cx="55778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period: Sep 2024 onward · 5,832 account-months · positive (migrates-worse) rate 3.5%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0" y="1188720"/>
            <a:ext cx="4846320" cy="1280160"/>
          </a:xfrm>
          <a:prstGeom prst="roundRect">
            <a:avLst>
              <a:gd name="adj" fmla="val 5714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6" name="Text 3"/>
          <p:cNvSpPr/>
          <p:nvPr/>
        </p:nvSpPr>
        <p:spPr>
          <a:xfrm>
            <a:off x="6629400" y="12984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 51.5M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flagged by the model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0" y="2606040"/>
            <a:ext cx="4846320" cy="1280160"/>
          </a:xfrm>
          <a:prstGeom prst="roundRect">
            <a:avLst>
              <a:gd name="adj" fmla="val 5714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27157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 72.5M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629400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that actually migrated worse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00800" y="402336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00B050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41330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30.8%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62940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at-risk capital caught before it migrated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7200" y="6263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describe an 800-account synthetic portfolio built for this repo — not a RUPSA figure. Re-running against real, properly governed data is Roadmap v0.3 (Slide 12).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Driving the Signal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136230382"/>
              </p:ext>
            </p:extLst>
          </p:nvPr>
        </p:nvGraphicFramePr>
        <p:xfrm>
          <a:off x="457200" y="1234440"/>
          <a:ext cx="7589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234440"/>
            <a:ext cx="2926080" cy="4206240"/>
          </a:xfrm>
          <a:prstGeom prst="roundRect">
            <a:avLst>
              <a:gd name="adj" fmla="val 2500"/>
            </a:avLst>
          </a:prstGeom>
          <a:solidFill>
            <a:srgbClr val="00B050"/>
          </a:solidFill>
          <a:ln/>
        </p:spPr>
      </p:sp>
      <p:sp>
        <p:nvSpPr>
          <p:cNvPr id="5" name="Text 2"/>
          <p:cNvSpPr/>
          <p:nvPr/>
        </p:nvSpPr>
        <p:spPr>
          <a:xfrm>
            <a:off x="854964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8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this honestly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549640" y="192024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shock_period dominating is expected — it's a stylized step-change I built into the simulator, not a discovered pattern. The feature that matters for a real deployment is fuel_price and its lags standing on their own, without needing the shock flag as a crutch.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789920" cy="5029200"/>
          </a:xfrm>
          <a:prstGeom prst="roundRect">
            <a:avLst>
              <a:gd name="adj" fmla="val 1091"/>
            </a:avLst>
          </a:prstGeom>
          <a:solidFill>
            <a:srgbClr val="00B05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2412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sacco-macro-risk-forecasting/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· LICENSE · requirements.txt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          raw · external · interim · processed  (gitignored)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01_exploratory_analysis.ipynb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02_modeling_and_evaluation.ipynb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config.py            SASRA thresholds, paths, seed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data/                simulate_ledger · simulate_macro · fetch_external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features/             build_features.py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               train_model.py · evaluate.py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visualization/        visualize.py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                     test_simulate_ledger · test_build_features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docs/methodology.md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.github/workflows/ci.yml   pytest on every push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reports/figures/            roc_curve.png · calibration_curve.png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17320" y="1417320"/>
            <a:ext cx="9829800" cy="548640"/>
          </a:xfrm>
          <a:prstGeom prst="roundRect">
            <a:avLst>
              <a:gd name="adj" fmla="val 8333"/>
            </a:avLst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4173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pipeline + baseline Logistic Regression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640080" cy="640080"/>
          </a:xfrm>
          <a:prstGeom prst="ellipse">
            <a:avLst/>
          </a:prstGeom>
          <a:solidFill>
            <a:srgbClr val="EDF1F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17320" y="2258568"/>
            <a:ext cx="9829800" cy="548640"/>
          </a:xfrm>
          <a:prstGeom prst="roundRect">
            <a:avLst>
              <a:gd name="adj" fmla="val 8333"/>
            </a:avLst>
          </a:prstGeom>
          <a:solidFill>
            <a:srgbClr val="EDF1F4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25856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PyCaret model comparison, SHAP attribution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640080" cy="640080"/>
          </a:xfrm>
          <a:prstGeom prst="ellipse">
            <a:avLst/>
          </a:prstGeom>
          <a:solidFill>
            <a:srgbClr val="EDF1F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54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17320" y="3099816"/>
            <a:ext cx="9829800" cy="548640"/>
          </a:xfrm>
          <a:prstGeom prst="roundRect">
            <a:avLst>
              <a:gd name="adj" fmla="val 8333"/>
            </a:avLst>
          </a:prstGeom>
          <a:solidFill>
            <a:srgbClr val="EDF1F4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3099816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real EPRA / KNBS / CBK series via fetch_external.py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640080" cy="640080"/>
          </a:xfrm>
          <a:prstGeom prst="ellipse">
            <a:avLst/>
          </a:prstGeom>
          <a:solidFill>
            <a:srgbClr val="EDF1F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953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17320" y="3941064"/>
            <a:ext cx="9829800" cy="548640"/>
          </a:xfrm>
          <a:prstGeom prst="roundRect">
            <a:avLst>
              <a:gd name="adj" fmla="val 8333"/>
            </a:avLst>
          </a:prstGeom>
          <a:solidFill>
            <a:srgbClr val="EDF1F4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394106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/predict endpoint for a ranked watchlist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36592"/>
            <a:ext cx="640080" cy="640080"/>
          </a:xfrm>
          <a:prstGeom prst="ellipse">
            <a:avLst/>
          </a:prstGeom>
          <a:solidFill>
            <a:srgbClr val="EDF1F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736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417320" y="4782312"/>
            <a:ext cx="9829800" cy="548640"/>
          </a:xfrm>
          <a:prstGeom prst="roundRect">
            <a:avLst>
              <a:gd name="adj" fmla="val 8333"/>
            </a:avLst>
          </a:prstGeom>
          <a:solidFill>
            <a:srgbClr val="EDF1F4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478231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/ hazard framing — time-to-default (stretch)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 ships v0.1, fully tested and run end-to-end.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3D5A7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 credit risk data science.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repository, tested end-to-end — README, methodology, CI.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github.com/THA011/sacco-macro-risk-forecasting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Officer/Intern, RUPSA Regulated NWDT Sacco Ltd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1401</Words>
  <Application>Microsoft Office PowerPoint</Application>
  <PresentationFormat>Widescreen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zacheas maina</cp:lastModifiedBy>
  <cp:revision>2</cp:revision>
  <dcterms:created xsi:type="dcterms:W3CDTF">2026-07-19T02:56:00Z</dcterms:created>
  <dcterms:modified xsi:type="dcterms:W3CDTF">2026-07-19T14:32:39Z</dcterms:modified>
</cp:coreProperties>
</file>